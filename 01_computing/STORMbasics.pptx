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65" r:id="rId6"/>
    <p:sldId id="259" r:id="rId7"/>
    <p:sldId id="262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66"/>
  </p:normalViewPr>
  <p:slideViewPr>
    <p:cSldViewPr snapToGrid="0" snapToObjects="1">
      <p:cViewPr varScale="1">
        <p:scale>
          <a:sx n="116" d="100"/>
          <a:sy n="116" d="100"/>
        </p:scale>
        <p:origin x="2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C3F97-F29B-0E48-8DC8-131EE3B4C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6A86F5B-530B-A641-8458-E18E874BE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55BFD7-135A-D34E-A44B-79C7000E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710F5F-77B7-1848-A9C8-F5B0D60D3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45184B-0BDC-4344-9401-B58D2459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4576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DD3AF-A6A6-4845-A19E-956682A2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029CEF-90EE-0849-BBC5-67FC1F611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5C350-0AD8-FB40-BFD5-0CB48C66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31A672-7E31-E647-8721-B9DDE4795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19156-B7EC-CA4F-8FDD-171B69F9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18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92C98-0FB3-1544-826B-1511915B3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9E5E25-9862-964C-A2AD-09CD296FA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E6411-837F-9945-85BF-8BDCF314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8F9DB4-A326-A742-B42F-C3D89D80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A2366F-BB40-B941-9AF0-7AE7BF17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7324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A8F66F-A492-0448-BAE2-09496BC69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3F747-A158-7646-8518-2C2E5BA929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34A5EE-AE57-3C4C-A6A9-A1177B032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DD69F2-83C8-A94D-9DD6-72B302E8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977730-9147-F541-878A-189BE8AE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06519C-285F-D946-A80D-636E3F85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094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4ECE61-1DAC-854C-95ED-B189FEF11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3FE426-88D3-8344-B958-ABDCCA3B6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E3D7AB-1C35-CD44-86A0-DB9FA87FB1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83DE48A-0E64-9F46-BBDE-BDC2EE795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343CC6-E583-CE4F-87A2-BD2EEBF81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DC5895-BB6C-FA47-A350-1C1C2E28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7AA2B6-E294-5240-BBF9-100AA8CD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373362-2CC5-F04E-AD4C-039C85BC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2401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BEDDC-E22F-514E-8D31-8C358EBB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C75407-5C7E-E54F-9D7B-7ED646434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C9B925-AF62-AB4E-9A69-1E48967B4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C685C5-6380-CE41-8D47-97A5D516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2272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0923D4-6C4B-7749-B14F-7A834074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143A6E3-63DC-CD47-9082-894443533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209643-EDF2-FF45-B522-AA44AC55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830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7D8D70-AF5D-FB4A-96FD-ED9AC8A8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1964A-6433-1844-A024-74F34FC07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183C02-97DB-8A4B-857D-684AC9BEE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56A473-39AC-1E45-8379-E2A273DE5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510E42-7293-8345-B560-FF98E28D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413D29-7D7B-8247-A5D8-71AEF67D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8792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FF61E-6B82-BC49-8503-0339B78F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C63D157-2BEE-D646-80EC-FED18512E2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B8169A-0428-B14A-80B9-32779397D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23B723-F102-E14A-9DF0-375C9965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5EE64A-213A-5C4E-B39B-38EAB0A30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5CEC16-D463-D141-9A1D-511D8FEA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74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113545-18E5-AA45-986B-2AE63DD5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DE9866-0645-CF40-89A5-0AC321BC42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33353-84D3-B740-945A-FCA7D0740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D23917-24F3-8841-8741-666B5AA5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1BDBFB-BB20-B445-81A1-5DA85179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5427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EE8005-B3F1-3144-B0F5-59432FE82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46EE8D-0C8C-D24F-9F54-7F873937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24B203-D86E-1B4B-9F3D-F1B947AF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CC6770-9CB2-3F4B-829E-FB8E4588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9BA98D-E210-154F-8917-EF666D2C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602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4B6506-A800-4946-896B-4BC65C7F8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1542B8-C741-124C-A994-901AF477B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0B1269-EF7C-2D4D-93E6-2BCC148F68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52338-427D-A84C-A727-2BFF18387F0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9B473-8EDB-2642-8C4C-AEC84C056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AE41D-F92B-C947-9CC6-BEE59EFA5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48A5F-5487-C245-9EC4-C479DE9833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1494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Secure_Shel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39C65D-1F22-684D-912D-478C23E1A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Computing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Tutorial</a:t>
            </a:r>
            <a:br>
              <a:rPr kumimoji="1" lang="en-US" altLang="zh-CN" dirty="0"/>
            </a:br>
            <a:r>
              <a:rPr kumimoji="1" lang="en-US" altLang="zh-CN" dirty="0"/>
              <a:t>STORM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basics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518AA6-6696-864A-9882-C3FA090853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Chaoyi</a:t>
            </a:r>
          </a:p>
          <a:p>
            <a:r>
              <a:rPr kumimoji="1" lang="en-US" altLang="zh-CN" dirty="0"/>
              <a:t>03-11-2025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0456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39DB1-1444-B84F-8E70-C995278D7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What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is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STORM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0E0F8A-BE12-3342-988B-38D5E0699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4824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powerful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computer(Server)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SBLers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collaborators,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operation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Ubuntu</a:t>
            </a:r>
            <a:r>
              <a:rPr kumimoji="1" lang="zh-CN" altLang="en-US" dirty="0"/>
              <a:t> </a:t>
            </a:r>
            <a:r>
              <a:rPr kumimoji="1" lang="en-US" altLang="zh-CN" dirty="0"/>
              <a:t>(Linux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based).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Internal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address: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rgbClr val="FF0000"/>
                </a:solidFill>
              </a:rPr>
              <a:t>storm.herseninstituut.knaw.nl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outside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NIN</a:t>
            </a:r>
            <a:r>
              <a:rPr kumimoji="1" lang="zh-CN" altLang="en-US" dirty="0"/>
              <a:t> </a:t>
            </a:r>
            <a:r>
              <a:rPr kumimoji="1" lang="en-US" altLang="zh-CN" dirty="0"/>
              <a:t>needs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Twingate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authorized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IT.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connection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protocol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2"/>
              </a:rPr>
              <a:t>ssh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(Secure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Shell):</a:t>
            </a:r>
          </a:p>
          <a:p>
            <a:r>
              <a:rPr kumimoji="1" lang="en-US" altLang="zh-CN" sz="2000" dirty="0"/>
              <a:t>Using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terminal/X2go/</a:t>
            </a:r>
            <a:r>
              <a:rPr kumimoji="1" lang="en-US" altLang="zh-CN" sz="2000" dirty="0" err="1"/>
              <a:t>VScode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MAC/Linux;</a:t>
            </a:r>
          </a:p>
          <a:p>
            <a:r>
              <a:rPr kumimoji="1" lang="en-US" altLang="zh-CN" sz="2000" dirty="0"/>
              <a:t>Using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powershell</a:t>
            </a:r>
            <a:r>
              <a:rPr kumimoji="1" lang="en-US" altLang="zh-CN" sz="2000" dirty="0"/>
              <a:t>/X2go/</a:t>
            </a:r>
            <a:r>
              <a:rPr kumimoji="1" lang="en-US" altLang="zh-CN" sz="2000" dirty="0" err="1"/>
              <a:t>VScode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Window;</a:t>
            </a:r>
          </a:p>
          <a:p>
            <a:r>
              <a:rPr kumimoji="1" lang="en-US" altLang="zh-CN" sz="2000" dirty="0"/>
              <a:t>Example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connecting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command: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ssh</a:t>
            </a:r>
            <a:r>
              <a:rPr kumimoji="1" lang="zh-CN" altLang="en-US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kumimoji="1" lang="en-US" altLang="zh-CN" sz="2000" dirty="0" err="1">
                <a:solidFill>
                  <a:schemeClr val="accent6">
                    <a:lumMod val="75000"/>
                  </a:schemeClr>
                </a:solidFill>
              </a:rPr>
              <a:t>username@storm.herseninstituut.knaw.nl</a:t>
            </a:r>
            <a:endParaRPr kumimoji="1"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97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0AD18-A6BD-8649-85E5-3C7F31E6A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What is Bash?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896D3-06D3-5444-A5F7-3B8C6D002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7983" cy="4351338"/>
          </a:xfrm>
        </p:spPr>
        <p:txBody>
          <a:bodyPr>
            <a:normAutofit lnSpcReduction="10000"/>
          </a:bodyPr>
          <a:lstStyle/>
          <a:p>
            <a:r>
              <a:rPr lang="en-US" altLang="zh-CN" b="1" dirty="0"/>
              <a:t>Bash</a:t>
            </a:r>
            <a:r>
              <a:rPr lang="en-US" altLang="zh-CN" dirty="0"/>
              <a:t> = </a:t>
            </a:r>
            <a:r>
              <a:rPr lang="en-US" altLang="zh-CN" dirty="0" err="1"/>
              <a:t>Bourne</a:t>
            </a:r>
            <a:r>
              <a:rPr lang="en-US" altLang="zh-CN" dirty="0"/>
              <a:t> Again Shell, the default Linux command‑line shell.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shell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set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commands</a:t>
            </a:r>
            <a:r>
              <a:rPr lang="zh-CN" altLang="en-US" dirty="0"/>
              <a:t> </a:t>
            </a:r>
            <a:r>
              <a:rPr lang="en-US" altLang="zh-CN" dirty="0"/>
              <a:t>that</a:t>
            </a:r>
            <a:r>
              <a:rPr lang="zh-CN" altLang="en-US" dirty="0"/>
              <a:t> </a:t>
            </a:r>
            <a:r>
              <a:rPr lang="en-US" altLang="zh-CN" dirty="0"/>
              <a:t>allow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interact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computer.</a:t>
            </a:r>
          </a:p>
          <a:p>
            <a:endParaRPr lang="en-US" altLang="zh-CN" dirty="0"/>
          </a:p>
          <a:p>
            <a:r>
              <a:rPr lang="en-US" altLang="zh-CN" dirty="0"/>
              <a:t>Lets you </a:t>
            </a:r>
            <a:r>
              <a:rPr lang="en-US" altLang="zh-CN" b="1" dirty="0"/>
              <a:t>run commands</a:t>
            </a:r>
            <a:r>
              <a:rPr lang="en-US" altLang="zh-CN" dirty="0"/>
              <a:t>, </a:t>
            </a:r>
            <a:r>
              <a:rPr lang="en-US" altLang="zh-CN" b="1" dirty="0"/>
              <a:t>combine them</a:t>
            </a:r>
            <a:r>
              <a:rPr lang="en-US" altLang="zh-CN" dirty="0"/>
              <a:t> with pipes,</a:t>
            </a:r>
            <a:r>
              <a:rPr lang="zh-CN" altLang="en-US" dirty="0"/>
              <a:t> </a:t>
            </a:r>
            <a:r>
              <a:rPr lang="en-US" altLang="zh-CN" dirty="0"/>
              <a:t>and </a:t>
            </a:r>
            <a:r>
              <a:rPr lang="en-US" altLang="zh-CN" b="1" dirty="0"/>
              <a:t>script</a:t>
            </a:r>
            <a:r>
              <a:rPr lang="en-US" altLang="zh-CN" dirty="0"/>
              <a:t> repeatable tasks.</a:t>
            </a:r>
          </a:p>
          <a:p>
            <a:r>
              <a:rPr lang="en-US" altLang="zh-CN" dirty="0"/>
              <a:t>Great for automation, job submission, environment setup.</a:t>
            </a:r>
          </a:p>
          <a:p>
            <a:endParaRPr kumimoji="1" lang="en-US" altLang="zh-CN" dirty="0"/>
          </a:p>
          <a:p>
            <a:pPr algn="l"/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current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shell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lang="en-US" altLang="zh-CN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</a:rPr>
              <a:t>echo $0</a:t>
            </a:r>
            <a:endParaRPr lang="en-US" altLang="zh-CN" dirty="0">
              <a:solidFill>
                <a:schemeClr val="accent6">
                  <a:lumMod val="75000"/>
                </a:schemeClr>
              </a:solidFill>
            </a:endParaRPr>
          </a:p>
          <a:p>
            <a:pPr algn="l"/>
            <a:r>
              <a:rPr lang="en-US" altLang="zh-CN" dirty="0"/>
              <a:t>C</a:t>
            </a:r>
            <a:r>
              <a:rPr lang="en-US" altLang="zh-CN" b="0" i="0" u="none" strike="noStrike" dirty="0">
                <a:effectLst/>
              </a:rPr>
              <a:t>hange</a:t>
            </a:r>
            <a:r>
              <a:rPr lang="zh-CN" altLang="en-US" b="0" i="0" u="none" strike="noStrike" dirty="0">
                <a:effectLst/>
              </a:rPr>
              <a:t> </a:t>
            </a:r>
            <a:r>
              <a:rPr lang="en-US" altLang="zh-CN" dirty="0"/>
              <a:t>shell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bash</a:t>
            </a:r>
            <a:r>
              <a:rPr lang="en-US" altLang="zh-CN" dirty="0"/>
              <a:t>(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tcsh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zsh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…</a:t>
            </a:r>
            <a:r>
              <a:rPr lang="en-US" altLang="zh-CN" dirty="0"/>
              <a:t>)</a:t>
            </a:r>
            <a:endParaRPr lang="en-US" altLang="zh-CN" b="0" i="0" u="none" strike="noStrike" dirty="0">
              <a:effectLst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4103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D826-80D7-904B-BE23-B9003BA3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Central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Processing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Unit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(CPU)</a:t>
            </a:r>
            <a:endParaRPr kumimoji="1"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AF0ED7-61F5-0D4C-BAA5-CD71F811BC44}"/>
              </a:ext>
            </a:extLst>
          </p:cNvPr>
          <p:cNvSpPr txBox="1"/>
          <p:nvPr/>
        </p:nvSpPr>
        <p:spPr>
          <a:xfrm>
            <a:off x="593456" y="1723027"/>
            <a:ext cx="3732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 err="1">
                <a:solidFill>
                  <a:schemeClr val="accent6">
                    <a:lumMod val="75000"/>
                  </a:schemeClr>
                </a:solidFill>
              </a:rPr>
              <a:t>lscpu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terminal</a:t>
            </a:r>
            <a:endParaRPr kumimoji="1" lang="zh-CN" alt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F42A326C-254B-EA4E-8F10-ABD293FD4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456" y="2303063"/>
            <a:ext cx="6001185" cy="2885882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A65410F-8D7D-A04E-A00F-711A12B55A3E}"/>
              </a:ext>
            </a:extLst>
          </p:cNvPr>
          <p:cNvSpPr txBox="1"/>
          <p:nvPr/>
        </p:nvSpPr>
        <p:spPr>
          <a:xfrm>
            <a:off x="593456" y="5399649"/>
            <a:ext cx="9171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A </a:t>
            </a: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core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is an independent compute unit inside a CPU. More cores ⇒ more tasks in parallel.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Threads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are the units of scheduled work, many CPUs support </a:t>
            </a: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SMT/Hyper‑Threading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(2 threads per core).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AB52D1-2975-B04E-ABF2-405BF5A856B1}"/>
              </a:ext>
            </a:extLst>
          </p:cNvPr>
          <p:cNvSpPr txBox="1"/>
          <p:nvPr/>
        </p:nvSpPr>
        <p:spPr>
          <a:xfrm>
            <a:off x="6750588" y="2303063"/>
            <a:ext cx="51696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Processing power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depends on: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Clock speed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(MHz/GHz) 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Core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thread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count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Cache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sizes and memory bandwidth</a:t>
            </a:r>
          </a:p>
        </p:txBody>
      </p:sp>
    </p:spTree>
    <p:extLst>
      <p:ext uri="{BB962C8B-B14F-4D97-AF65-F5344CB8AC3E}">
        <p14:creationId xmlns:p14="http://schemas.microsoft.com/office/powerpoint/2010/main" val="411429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4CD826-80D7-904B-BE23-B9003BA3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Graphics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Processing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Unit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(GPU)</a:t>
            </a:r>
            <a:endParaRPr kumimoji="1" lang="zh-CN" alt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AF0ED7-61F5-0D4C-BAA5-CD71F811BC44}"/>
              </a:ext>
            </a:extLst>
          </p:cNvPr>
          <p:cNvSpPr txBox="1"/>
          <p:nvPr/>
        </p:nvSpPr>
        <p:spPr>
          <a:xfrm>
            <a:off x="593456" y="1723027"/>
            <a:ext cx="7382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usr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/local/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cuda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/samples/1_Utilities/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deviceQuery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deviceQuery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effectLst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65410F-8D7D-A04E-A00F-711A12B55A3E}"/>
              </a:ext>
            </a:extLst>
          </p:cNvPr>
          <p:cNvSpPr txBox="1"/>
          <p:nvPr/>
        </p:nvSpPr>
        <p:spPr>
          <a:xfrm>
            <a:off x="7878607" y="2223877"/>
            <a:ext cx="41738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Power is about </a:t>
            </a:r>
            <a:r>
              <a:rPr lang="en-US" altLang="zh-CN" b="1" u="none" strike="noStrike" dirty="0">
                <a:solidFill>
                  <a:srgbClr val="000000"/>
                </a:solidFill>
                <a:effectLst/>
              </a:rPr>
              <a:t>throughput</a:t>
            </a:r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: </a:t>
            </a:r>
          </a:p>
          <a:p>
            <a:pPr algn="l"/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how many floating/int ops per second.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6AB52D1-2975-B04E-ABF2-405BF5A856B1}"/>
              </a:ext>
            </a:extLst>
          </p:cNvPr>
          <p:cNvSpPr txBox="1"/>
          <p:nvPr/>
        </p:nvSpPr>
        <p:spPr>
          <a:xfrm>
            <a:off x="593455" y="5129496"/>
            <a:ext cx="114589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Key specs that matter</a:t>
            </a: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SM / CUDA core count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: more = higher potential parallelism.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GPU</a:t>
            </a:r>
            <a:r>
              <a:rPr lang="zh-CN" altLang="en-US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Clock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(MHz/GHz): higher = more ops per second (within power/thermal limits).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VRAM size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(e.g., 10–80 GB): caps model/batch size that fits.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Memory bandwidth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(bit): limits how fast data feeds the cores.</a:t>
            </a:r>
          </a:p>
        </p:txBody>
      </p:sp>
      <p:pic>
        <p:nvPicPr>
          <p:cNvPr id="13" name="内容占位符 12">
            <a:extLst>
              <a:ext uri="{FF2B5EF4-FFF2-40B4-BE49-F238E27FC236}">
                <a16:creationId xmlns:a16="http://schemas.microsoft.com/office/drawing/2014/main" id="{752FD2E3-9642-6341-AC88-BA5EA9E19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455" y="2223877"/>
            <a:ext cx="7075832" cy="2774101"/>
          </a:xfrm>
        </p:spPr>
      </p:pic>
    </p:spTree>
    <p:extLst>
      <p:ext uri="{BB962C8B-B14F-4D97-AF65-F5344CB8AC3E}">
        <p14:creationId xmlns:p14="http://schemas.microsoft.com/office/powerpoint/2010/main" val="409906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1BCC0-4FBF-7547-99C6-9391BAB5E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CPU vs GPU (what they do)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69E06-C3C8-9247-A5D9-82203A1FE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25976" cy="4351338"/>
          </a:xfrm>
        </p:spPr>
        <p:txBody>
          <a:bodyPr>
            <a:normAutofit fontScale="925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u="none" strike="noStrike" dirty="0">
                <a:solidFill>
                  <a:srgbClr val="000000"/>
                </a:solidFill>
                <a:effectLst/>
              </a:rPr>
              <a:t>CPU (Central Processing Unit)</a:t>
            </a:r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: general‑purpose, great at many different tasks, optimized for </a:t>
            </a:r>
            <a:r>
              <a:rPr lang="en-US" altLang="zh-CN" b="1" u="none" strike="noStrike" dirty="0">
                <a:solidFill>
                  <a:srgbClr val="000000"/>
                </a:solidFill>
                <a:effectLst/>
              </a:rPr>
              <a:t>low‑latency</a:t>
            </a:r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 and complex control flow.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1" u="none" strike="noStrike" dirty="0">
                <a:solidFill>
                  <a:srgbClr val="000000"/>
                </a:solidFill>
                <a:effectLst/>
              </a:rPr>
              <a:t>GPU (Graphics Processing Unit)</a:t>
            </a:r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: massive parallel engine, great at doing the same operation on lots of data, optimized for </a:t>
            </a:r>
            <a:r>
              <a:rPr lang="en-US" altLang="zh-CN" b="1" u="none" strike="noStrike" dirty="0">
                <a:solidFill>
                  <a:srgbClr val="000000"/>
                </a:solidFill>
                <a:effectLst/>
              </a:rPr>
              <a:t>throughput</a:t>
            </a:r>
            <a:r>
              <a:rPr lang="en-US" altLang="zh-CN" b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/>
            <a:endParaRPr lang="en-US" altLang="zh-CN" b="1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Common workloads</a:t>
            </a: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CPU: system services, compilers, web servers, databases, small/branchy loops.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GPU: matrix/tensor ops, training/inference, image/video processing, simulations.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85E5DF-B829-864A-BC55-2850A62C8632}"/>
              </a:ext>
            </a:extLst>
          </p:cNvPr>
          <p:cNvSpPr txBox="1"/>
          <p:nvPr/>
        </p:nvSpPr>
        <p:spPr>
          <a:xfrm>
            <a:off x="838200" y="6211669"/>
            <a:ext cx="10652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1F1F1F"/>
                </a:solidFill>
              </a:rPr>
              <a:t>W</a:t>
            </a:r>
            <a:r>
              <a:rPr lang="en-US" altLang="zh-CN" b="1" i="0" u="none" strike="noStrike" dirty="0">
                <a:solidFill>
                  <a:srgbClr val="1F1F1F"/>
                </a:solidFill>
                <a:effectLst/>
              </a:rPr>
              <a:t>hile a CPU can theoretically complete any task, </a:t>
            </a:r>
            <a:r>
              <a:rPr lang="en-US" altLang="zh-CN" b="1" i="0" u="none" strike="noStrike" dirty="0">
                <a:solidFill>
                  <a:srgbClr val="040C28"/>
                </a:solidFill>
                <a:effectLst/>
              </a:rPr>
              <a:t>a GPU can complete simpler, more specific tasks extremely quickly and efficiently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04925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471A2-69A5-3448-BD8D-0E5913914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</a:rPr>
              <a:t>RAM usage vs CPU usage</a:t>
            </a:r>
            <a:endParaRPr kumimoji="1"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4A39AD-E7A3-F44B-87AA-10CEA0DC3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CPU usage</a:t>
            </a:r>
            <a:r>
              <a:rPr lang="en-US" altLang="zh-CN" dirty="0"/>
              <a:t>: how busy the compute units are (% time running instructions).</a:t>
            </a:r>
          </a:p>
          <a:p>
            <a:r>
              <a:rPr lang="en-US" altLang="zh-CN" b="1" dirty="0"/>
              <a:t>RAM usage</a:t>
            </a:r>
            <a:r>
              <a:rPr lang="en-US" altLang="zh-CN" dirty="0"/>
              <a:t>: how much </a:t>
            </a:r>
            <a:r>
              <a:rPr lang="en-US" altLang="zh-CN" b="1" dirty="0"/>
              <a:t>memory</a:t>
            </a:r>
            <a:r>
              <a:rPr lang="en-US" altLang="zh-CN" dirty="0"/>
              <a:t> is currently allocated/used to hold data &amp; code.</a:t>
            </a:r>
          </a:p>
          <a:p>
            <a:r>
              <a:rPr lang="en-US" altLang="zh-CN" dirty="0"/>
              <a:t>High RAM usage ≠ high CPU usage. </a:t>
            </a:r>
          </a:p>
          <a:p>
            <a:pPr marL="0" indent="0">
              <a:buNone/>
            </a:pPr>
            <a:r>
              <a:rPr lang="en-US" altLang="zh-CN" dirty="0"/>
              <a:t>A job can: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Use lots of RAM but little CPU (big dataset waiting, memory‑bound)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/>
              <a:t>Use lots of CPU but little RAM (tight compute loop)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146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64586-FDBD-6D40-AB87-168292FC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i="0" u="none" strike="noStrike" dirty="0">
                <a:solidFill>
                  <a:srgbClr val="000000"/>
                </a:solidFill>
                <a:effectLst/>
                <a:latin typeface="+mj-ea"/>
              </a:rPr>
              <a:t>Quick checks in terminal</a:t>
            </a:r>
            <a:endParaRPr kumimoji="1" lang="zh-CN" altLang="en-US" b="1" dirty="0">
              <a:latin typeface="+mj-ea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BBEFB4-555C-5F4C-ACB6-BC532E09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93916" cy="435133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# Summary of CPU</a:t>
            </a:r>
          </a:p>
          <a:p>
            <a:pPr algn="l"/>
            <a:r>
              <a:rPr lang="en-US" altLang="zh-CN" b="0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</a:rPr>
              <a:t>Lscpu</a:t>
            </a:r>
            <a:endParaRPr lang="en-US" altLang="zh-CN" b="0" i="0" u="none" strike="noStrike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algn="l"/>
            <a:r>
              <a:rPr lang="en-US" altLang="zh-CN" b="0" i="0" u="none" strike="noStrike" dirty="0">
                <a:effectLst/>
              </a:rPr>
              <a:t>#</a:t>
            </a:r>
            <a:r>
              <a:rPr lang="zh-CN" altLang="en-US" b="0" i="0" u="none" strike="noStrike" dirty="0">
                <a:effectLst/>
              </a:rPr>
              <a:t> </a:t>
            </a:r>
            <a:r>
              <a:rPr lang="en-US" altLang="zh-CN" b="0" i="0" u="none" strike="noStrike" dirty="0">
                <a:effectLst/>
              </a:rPr>
              <a:t>GPU</a:t>
            </a:r>
            <a:r>
              <a:rPr lang="zh-CN" altLang="en-US" b="0" i="0" u="none" strike="noStrike" dirty="0">
                <a:effectLst/>
              </a:rPr>
              <a:t> </a:t>
            </a:r>
            <a:r>
              <a:rPr lang="en-US" altLang="zh-CN" b="0" i="0" u="none" strike="noStrike" dirty="0">
                <a:effectLst/>
              </a:rPr>
              <a:t>info</a:t>
            </a:r>
          </a:p>
          <a:p>
            <a:pPr algn="l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usr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/local/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cuda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/samples/1_Utilities/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deviceQuery</a:t>
            </a: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  <a:effectLst/>
              </a:rPr>
              <a:t>/</a:t>
            </a:r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  <a:effectLst/>
              </a:rPr>
              <a:t>deviceQuery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marL="0" indent="0" algn="l">
              <a:buNone/>
            </a:pPr>
            <a:br>
              <a:rPr lang="en-US" altLang="zh-CN" b="0" i="0" u="none" strike="noStrike" dirty="0">
                <a:solidFill>
                  <a:srgbClr val="000000"/>
                </a:solidFill>
                <a:effectLst/>
              </a:rPr>
            </a:b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# Live CPU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GPUand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memory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usage </a:t>
            </a:r>
          </a:p>
          <a:p>
            <a:pPr algn="l"/>
            <a:r>
              <a:rPr lang="en-US" altLang="zh-CN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</a:rPr>
              <a:t>top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 # press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‘1’to show per‑CPU,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‘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t’CPU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load,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‘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m’memory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load</a:t>
            </a:r>
          </a:p>
          <a:p>
            <a:pPr algn="l"/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h</a:t>
            </a:r>
            <a:r>
              <a:rPr lang="en-US" altLang="zh-CN" b="0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</a:rPr>
              <a:t>top</a:t>
            </a:r>
            <a:r>
              <a:rPr lang="en-US" altLang="zh-CN" b="0" i="0" u="none" strike="noStrike" dirty="0">
                <a:solidFill>
                  <a:schemeClr val="accent6">
                    <a:lumMod val="75000"/>
                  </a:schemeClr>
                </a:solidFill>
                <a:effectLst/>
              </a:rPr>
              <a:t>/</a:t>
            </a:r>
            <a:r>
              <a:rPr lang="en-US" altLang="zh-CN" b="0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</a:rPr>
              <a:t>btop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  # nicer view but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slower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endParaRPr lang="en-US" altLang="zh-C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altLang="zh-CN" dirty="0" err="1">
                <a:solidFill>
                  <a:schemeClr val="accent6">
                    <a:lumMod val="75000"/>
                  </a:schemeClr>
                </a:solidFill>
              </a:rPr>
              <a:t>n</a:t>
            </a:r>
            <a:r>
              <a:rPr lang="en-US" altLang="zh-CN" b="0" i="0" u="none" strike="noStrike" dirty="0" err="1">
                <a:solidFill>
                  <a:schemeClr val="accent6">
                    <a:lumMod val="75000"/>
                  </a:schemeClr>
                </a:solidFill>
                <a:effectLst/>
              </a:rPr>
              <a:t>vidia-smi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#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GPU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status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for</a:t>
            </a:r>
            <a:r>
              <a:rPr lang="zh-CN" alt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0" i="0" u="none" strike="noStrike" dirty="0" err="1">
                <a:solidFill>
                  <a:srgbClr val="000000"/>
                </a:solidFill>
                <a:effectLst/>
              </a:rPr>
              <a:t>nvidia</a:t>
            </a:r>
            <a:r>
              <a:rPr lang="en-US" altLang="zh-CN" b="0" i="0" u="none" strike="noStrike" dirty="0">
                <a:solidFill>
                  <a:srgbClr val="000000"/>
                </a:solidFill>
                <a:effectLst/>
              </a:rPr>
              <a:t>-GPU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3193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617</Words>
  <Application>Microsoft Macintosh PowerPoint</Application>
  <PresentationFormat>宽屏</PresentationFormat>
  <Paragraphs>66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Computing Tutorial STORM basics</vt:lpstr>
      <vt:lpstr>What is STORM</vt:lpstr>
      <vt:lpstr>What is Bash?</vt:lpstr>
      <vt:lpstr>Central Processing Unit (CPU)</vt:lpstr>
      <vt:lpstr>Graphics Processing Unit (GPU)</vt:lpstr>
      <vt:lpstr>CPU vs GPU (what they do)</vt:lpstr>
      <vt:lpstr>RAM usage vs CPU usage</vt:lpstr>
      <vt:lpstr>Quick checks in terminal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Tutorial STORM basics</dc:title>
  <dc:creator>Chaoyi</dc:creator>
  <cp:lastModifiedBy>Chaoyi</cp:lastModifiedBy>
  <cp:revision>52</cp:revision>
  <dcterms:created xsi:type="dcterms:W3CDTF">2025-11-02T12:22:42Z</dcterms:created>
  <dcterms:modified xsi:type="dcterms:W3CDTF">2025-11-03T13:01:20Z</dcterms:modified>
</cp:coreProperties>
</file>